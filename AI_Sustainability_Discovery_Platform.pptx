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1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1FD8A4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206240"/>
            <a:ext cx="5029200" cy="5029200"/>
          </a:xfrm>
          <a:prstGeom prst="ellipse">
            <a:avLst/>
          </a:prstGeom>
          <a:solidFill>
            <a:srgbClr val="3FD1E0">
              <a:alpha val="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· VIRTUAL INTERNSHIP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4F8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Sustainability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4F8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Platform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Sustainability Problem Reporting, Analysis &amp; Action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520440"/>
            <a:ext cx="1458468" cy="777240"/>
          </a:xfrm>
          <a:prstGeom prst="roundRect">
            <a:avLst>
              <a:gd name="adj" fmla="val 10588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5935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3813048"/>
            <a:ext cx="123901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189988" y="352044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00884" y="3520440"/>
            <a:ext cx="1458468" cy="777240"/>
          </a:xfrm>
          <a:prstGeom prst="roundRect">
            <a:avLst>
              <a:gd name="adj" fmla="val 10588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2324" y="35935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10612" y="3813048"/>
            <a:ext cx="123901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59352" y="352044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270248" y="3520440"/>
            <a:ext cx="1458468" cy="777240"/>
          </a:xfrm>
          <a:prstGeom prst="roundRect">
            <a:avLst>
              <a:gd name="adj" fmla="val 10588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1688" y="35935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79976" y="3813048"/>
            <a:ext cx="123901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728716" y="352044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039612" y="3520440"/>
            <a:ext cx="1458468" cy="777240"/>
          </a:xfrm>
          <a:prstGeom prst="roundRect">
            <a:avLst>
              <a:gd name="adj" fmla="val 10588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31052" y="35935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49340" y="3813048"/>
            <a:ext cx="1239012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1520" y="4709160"/>
            <a:ext cx="10698480" cy="0"/>
          </a:xfrm>
          <a:prstGeom prst="line">
            <a:avLst/>
          </a:prstGeom>
          <a:noFill/>
          <a:ln w="12700">
            <a:solidFill>
              <a:srgbClr val="1E3B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937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Kumar Behera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52852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Student · Centurion University of Technology and Management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5596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  ·  IBM SkillsBuild &amp; AICTE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8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Sustainability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46120" cy="566928"/>
          </a:xfrm>
          <a:prstGeom prst="roundRect">
            <a:avLst>
              <a:gd name="adj" fmla="val 11290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33956"/>
            <a:ext cx="82296" cy="82296"/>
          </a:xfrm>
          <a:prstGeom prst="ellipse">
            <a:avLst/>
          </a:prstGeom>
          <a:solidFill>
            <a:srgbClr val="1FD8A4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6916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wastage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959352" y="1691640"/>
            <a:ext cx="3246120" cy="566928"/>
          </a:xfrm>
          <a:prstGeom prst="roundRect">
            <a:avLst>
              <a:gd name="adj" fmla="val 11290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23944" y="1933956"/>
            <a:ext cx="82296" cy="82296"/>
          </a:xfrm>
          <a:prstGeom prst="ellipse">
            <a:avLst/>
          </a:prstGeom>
          <a:solidFill>
            <a:srgbClr val="1FD8A4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16916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electricity consumption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3246120" cy="566928"/>
          </a:xfrm>
          <a:prstGeom prst="roundRect">
            <a:avLst>
              <a:gd name="adj" fmla="val 11290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665476"/>
            <a:ext cx="82296" cy="82296"/>
          </a:xfrm>
          <a:prstGeom prst="ellipse">
            <a:avLst/>
          </a:prstGeom>
          <a:solidFill>
            <a:srgbClr val="1FD8A4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242316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waste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959352" y="2423160"/>
            <a:ext cx="3246120" cy="566928"/>
          </a:xfrm>
          <a:prstGeom prst="roundRect">
            <a:avLst>
              <a:gd name="adj" fmla="val 11290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23944" y="2665476"/>
            <a:ext cx="82296" cy="82296"/>
          </a:xfrm>
          <a:prstGeom prst="ellipse">
            <a:avLst/>
          </a:prstGeom>
          <a:solidFill>
            <a:srgbClr val="1FD8A4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242316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3246120" cy="566928"/>
          </a:xfrm>
          <a:prstGeom prst="roundRect">
            <a:avLst>
              <a:gd name="adj" fmla="val 11290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396996"/>
            <a:ext cx="82296" cy="82296"/>
          </a:xfrm>
          <a:prstGeom prst="ellipse">
            <a:avLst/>
          </a:prstGeom>
          <a:solidFill>
            <a:srgbClr val="1FD8A4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31546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waste management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959352" y="3154680"/>
            <a:ext cx="3246120" cy="566928"/>
          </a:xfrm>
          <a:prstGeom prst="roundRect">
            <a:avLst>
              <a:gd name="adj" fmla="val 11290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23944" y="3396996"/>
            <a:ext cx="82296" cy="82296"/>
          </a:xfrm>
          <a:prstGeom prst="ellipse">
            <a:avLst/>
          </a:prstGeom>
          <a:solidFill>
            <a:srgbClr val="1FD8A4"/>
          </a:solidFill>
          <a:ln/>
        </p:spPr>
      </p:sp>
      <p:sp>
        <p:nvSpPr>
          <p:cNvPr id="21" name="Text 19"/>
          <p:cNvSpPr/>
          <p:nvPr/>
        </p:nvSpPr>
        <p:spPr>
          <a:xfrm>
            <a:off x="4343400" y="31546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structured reporting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3246120" cy="566928"/>
          </a:xfrm>
          <a:prstGeom prst="roundRect">
            <a:avLst>
              <a:gd name="adj" fmla="val 11290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4128516"/>
            <a:ext cx="82296" cy="82296"/>
          </a:xfrm>
          <a:prstGeom prst="ellipse">
            <a:avLst/>
          </a:prstGeom>
          <a:solidFill>
            <a:srgbClr val="1FD8A4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38862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prioritizing problems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959352" y="3886200"/>
            <a:ext cx="3246120" cy="566928"/>
          </a:xfrm>
          <a:prstGeom prst="roundRect">
            <a:avLst>
              <a:gd name="adj" fmla="val 11290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23944" y="4128516"/>
            <a:ext cx="82296" cy="82296"/>
          </a:xfrm>
          <a:prstGeom prst="ellipse">
            <a:avLst/>
          </a:prstGeom>
          <a:solidFill>
            <a:srgbClr val="1FD8A4"/>
          </a:solidFill>
          <a:ln/>
        </p:spPr>
      </p:sp>
      <p:sp>
        <p:nvSpPr>
          <p:cNvPr id="27" name="Text 25"/>
          <p:cNvSpPr/>
          <p:nvPr/>
        </p:nvSpPr>
        <p:spPr>
          <a:xfrm>
            <a:off x="4343400" y="38862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follow-up after reporting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818120" y="1691640"/>
            <a:ext cx="3749040" cy="2907792"/>
          </a:xfrm>
          <a:prstGeom prst="roundRect">
            <a:avLst>
              <a:gd name="adj" fmla="val 3145"/>
            </a:avLst>
          </a:prstGeom>
          <a:solidFill>
            <a:srgbClr val="132B25"/>
          </a:solidFill>
          <a:ln w="15875">
            <a:solidFill>
              <a:srgbClr val="1FD8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1737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D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8138160" y="2377440"/>
            <a:ext cx="310896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 problem is only the first step. The challenge is understanding it, prioritizing it, acting on it, and tracking whether it was resolved.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by campus sustainability survey observations.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Sustainability Discovery Platform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519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8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Observation to 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REPORTING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noticed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80720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submitted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31012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602736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60273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analysis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10565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398264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39826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follow-up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9320" y="1737360"/>
            <a:ext cx="0" cy="4297680"/>
          </a:xfrm>
          <a:prstGeom prst="line">
            <a:avLst/>
          </a:prstGeom>
          <a:noFill/>
          <a:ln w="12700">
            <a:solidFill>
              <a:srgbClr val="1E3B33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4922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2011680"/>
            <a:ext cx="5120640" cy="475488"/>
          </a:xfrm>
          <a:prstGeom prst="roundRect">
            <a:avLst>
              <a:gd name="adj" fmla="val 15385"/>
            </a:avLst>
          </a:prstGeom>
          <a:solidFill>
            <a:srgbClr val="132B25"/>
          </a:solidFill>
          <a:ln w="15875">
            <a:solidFill>
              <a:srgbClr val="1FD8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201168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92240" y="248716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92240" y="2779776"/>
            <a:ext cx="5120640" cy="475488"/>
          </a:xfrm>
          <a:prstGeom prst="roundRect">
            <a:avLst>
              <a:gd name="adj" fmla="val 15385"/>
            </a:avLst>
          </a:prstGeom>
          <a:solidFill>
            <a:srgbClr val="132B25"/>
          </a:solidFill>
          <a:ln w="15875">
            <a:solidFill>
              <a:srgbClr val="1FD8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779776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92240" y="325526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92240" y="3547872"/>
            <a:ext cx="5120640" cy="475488"/>
          </a:xfrm>
          <a:prstGeom prst="roundRect">
            <a:avLst>
              <a:gd name="adj" fmla="val 15385"/>
            </a:avLst>
          </a:prstGeom>
          <a:solidFill>
            <a:srgbClr val="132B25"/>
          </a:solidFill>
          <a:ln w="15875">
            <a:solidFill>
              <a:srgbClr val="1FD8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354787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92240" y="40233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92240" y="4315968"/>
            <a:ext cx="5120640" cy="475488"/>
          </a:xfrm>
          <a:prstGeom prst="roundRect">
            <a:avLst>
              <a:gd name="adj" fmla="val 15385"/>
            </a:avLst>
          </a:prstGeom>
          <a:solidFill>
            <a:srgbClr val="132B25"/>
          </a:solidFill>
          <a:ln w="15875">
            <a:solidFill>
              <a:srgbClr val="1FD8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4315968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92240" y="479145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92240" y="5084064"/>
            <a:ext cx="5120640" cy="475488"/>
          </a:xfrm>
          <a:prstGeom prst="roundRect">
            <a:avLst>
              <a:gd name="adj" fmla="val 15385"/>
            </a:avLst>
          </a:prstGeom>
          <a:solidFill>
            <a:srgbClr val="132B25"/>
          </a:solidFill>
          <a:ln w="15875">
            <a:solidFill>
              <a:srgbClr val="1FD8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5084064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Impact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2636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transforms individual sustainability observations into structured, AI-assisted, and trackable actions.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Sustainability Discovery Platform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02975" y="6519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8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Sustainability Discovery Platform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submit reports with: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039112"/>
            <a:ext cx="82296" cy="82296"/>
          </a:xfrm>
          <a:prstGeom prst="ellipse">
            <a:avLst/>
          </a:prstGeom>
          <a:solidFill>
            <a:srgbClr val="3FD1E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65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2441448"/>
            <a:ext cx="82296" cy="82296"/>
          </a:xfrm>
          <a:prstGeom prst="ellipse">
            <a:avLst/>
          </a:prstGeom>
          <a:solidFill>
            <a:srgbClr val="3FD1E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3682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843784"/>
            <a:ext cx="82296" cy="82296"/>
          </a:xfrm>
          <a:prstGeom prst="ellipse">
            <a:avLst/>
          </a:prstGeom>
          <a:solidFill>
            <a:srgbClr val="3FD1E0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7706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3246120"/>
            <a:ext cx="82296" cy="82296"/>
          </a:xfrm>
          <a:prstGeom prst="ellipse">
            <a:avLst/>
          </a:prstGeom>
          <a:solidFill>
            <a:srgbClr val="3FD1E0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172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evidence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712464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712464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 decision-making.</a:t>
            </a:r>
            <a:endParaRPr lang="en-US" sz="1150" dirty="0"/>
          </a:p>
          <a:p>
            <a:pPr indent="0" marL="0">
              <a:buNone/>
            </a:pPr>
            <a:r>
              <a:rPr lang="en-US" sz="1150" b="1" i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remain responsible for operational decisions.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92040" y="16002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then: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2011680"/>
            <a:ext cx="2880360" cy="786384"/>
          </a:xfrm>
          <a:prstGeom prst="roundRect">
            <a:avLst>
              <a:gd name="adj" fmla="val 8140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06654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01768" y="2267712"/>
            <a:ext cx="2660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the issue using Google Gemini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2907792"/>
            <a:ext cx="2880360" cy="786384"/>
          </a:xfrm>
          <a:prstGeom prst="roundRect">
            <a:avLst>
              <a:gd name="adj" fmla="val 8140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96265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01768" y="3163824"/>
            <a:ext cx="2660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 knowledge using RAG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3803904"/>
            <a:ext cx="2880360" cy="786384"/>
          </a:xfrm>
          <a:prstGeom prst="roundRect">
            <a:avLst>
              <a:gd name="adj" fmla="val 8140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8587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01768" y="4059936"/>
            <a:ext cx="2660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controlled Agentic AI workflow for contextual analysis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4700016"/>
            <a:ext cx="2880360" cy="786384"/>
          </a:xfrm>
          <a:prstGeom prst="roundRect">
            <a:avLst>
              <a:gd name="adj" fmla="val 8140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01768" y="4956048"/>
            <a:ext cx="2660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probable root causes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55280" y="2011680"/>
            <a:ext cx="2880360" cy="786384"/>
          </a:xfrm>
          <a:prstGeom prst="roundRect">
            <a:avLst>
              <a:gd name="adj" fmla="val 8140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206654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65008" y="2267712"/>
            <a:ext cx="2660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possible actions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55280" y="2907792"/>
            <a:ext cx="2880360" cy="786384"/>
          </a:xfrm>
          <a:prstGeom prst="roundRect">
            <a:avLst>
              <a:gd name="adj" fmla="val 8140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296265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65008" y="3163824"/>
            <a:ext cx="2660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human reviewers to manage the action lifecycle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955280" y="3803904"/>
            <a:ext cx="2880360" cy="786384"/>
          </a:xfrm>
          <a:prstGeom prst="roundRect">
            <a:avLst>
              <a:gd name="adj" fmla="val 8140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0" y="38587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65008" y="4059936"/>
            <a:ext cx="2660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status and history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955280" y="4700016"/>
            <a:ext cx="2880360" cy="786384"/>
          </a:xfrm>
          <a:prstGeom prst="roundRect">
            <a:avLst>
              <a:gd name="adj" fmla="val 8140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65008" y="4956048"/>
            <a:ext cx="2660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impact-oriented dashboard information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Sustainability Discovery Platform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002975" y="6519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8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Analysis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4846320" cy="420624"/>
          </a:xfrm>
          <a:prstGeom prst="roundRect">
            <a:avLst>
              <a:gd name="adj" fmla="val 17391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7276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Report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4846320" cy="420624"/>
          </a:xfrm>
          <a:prstGeom prst="roundRect">
            <a:avLst>
              <a:gd name="adj" fmla="val 17391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86000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+ Category + Location + Photo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70662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4846320" cy="420624"/>
          </a:xfrm>
          <a:prstGeom prst="roundRect">
            <a:avLst>
              <a:gd name="adj" fmla="val 17391"/>
            </a:avLst>
          </a:prstGeom>
          <a:solidFill>
            <a:srgbClr val="132B25"/>
          </a:solidFill>
          <a:ln w="15875">
            <a:solidFill>
              <a:srgbClr val="1FD8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99232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41985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12464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7124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Sustainability Knowledge + Campus Survey Evidence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16966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462272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132B25"/>
          </a:solidFill>
          <a:ln w="15875">
            <a:solidFill>
              <a:srgbClr val="1FD8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4622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— Live AI Analysis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406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943600" y="3840480"/>
            <a:ext cx="5669280" cy="1143000"/>
          </a:xfrm>
          <a:prstGeom prst="roundRect">
            <a:avLst>
              <a:gd name="adj" fmla="val 7200"/>
            </a:avLst>
          </a:prstGeom>
          <a:solidFill>
            <a:srgbClr val="132B25"/>
          </a:solidFill>
          <a:ln w="15875">
            <a:solidFill>
              <a:srgbClr val="1FD8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39502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Output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44768" y="4279392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3FD1E0">
              <a:alpha val="15000"/>
            </a:srgbClr>
          </a:solidFill>
          <a:ln w="12700">
            <a:solidFill>
              <a:srgbClr val="3FD1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4279392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42248" y="4279392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3FD1E0">
              <a:alpha val="15000"/>
            </a:srgbClr>
          </a:solidFill>
          <a:ln w="12700">
            <a:solidFill>
              <a:srgbClr val="3FD1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42248" y="4279392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44768" y="4663440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3FD1E0">
              <a:alpha val="15000"/>
            </a:srgbClr>
          </a:solidFill>
          <a:ln w="12700">
            <a:solidFill>
              <a:srgbClr val="3FD1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466344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842248" y="4663440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3FD1E0">
              <a:alpha val="15000"/>
            </a:srgbClr>
          </a:solidFill>
          <a:ln w="12700">
            <a:solidFill>
              <a:srgbClr val="3FD1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42248" y="466344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Estimate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0" y="5029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943600" y="5394960"/>
            <a:ext cx="5669280" cy="502920"/>
          </a:xfrm>
          <a:prstGeom prst="roundRect">
            <a:avLst>
              <a:gd name="adj" fmla="val 14545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5394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78240" y="53949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144000" y="539496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81160" y="53949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Lifecycle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943600" y="60807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is the live AI provider for this platform.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Sustainability Discovery Platform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02975" y="6519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8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Generation (RAG)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retrieves relevant information from the sustainability knowledge base before generating AI recommendations.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3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720340"/>
            <a:ext cx="82296" cy="82296"/>
          </a:xfrm>
          <a:prstGeom prst="ellipse">
            <a:avLst/>
          </a:prstGeom>
          <a:solidFill>
            <a:srgbClr val="3FD1E0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6517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086100"/>
            <a:ext cx="82296" cy="82296"/>
          </a:xfrm>
          <a:prstGeom prst="ellipse">
            <a:avLst/>
          </a:prstGeom>
          <a:solidFill>
            <a:srgbClr val="3FD1E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0175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451860"/>
            <a:ext cx="82296" cy="82296"/>
          </a:xfrm>
          <a:prstGeom prst="ellipse">
            <a:avLst/>
          </a:prstGeom>
          <a:solidFill>
            <a:srgbClr val="3FD1E0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3832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search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817620"/>
            <a:ext cx="82296" cy="82296"/>
          </a:xfrm>
          <a:prstGeom prst="ellipse">
            <a:avLst/>
          </a:prstGeom>
          <a:solidFill>
            <a:srgbClr val="3FD1E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7490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knowledge documents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183380"/>
            <a:ext cx="82296" cy="82296"/>
          </a:xfrm>
          <a:prstGeom prst="ellipse">
            <a:avLst/>
          </a:prstGeom>
          <a:solidFill>
            <a:srgbClr val="3FD1E0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114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survey evidence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61772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132B25"/>
          </a:solidFill>
          <a:ln w="13970">
            <a:solidFill>
              <a:srgbClr val="1FD8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61772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“Recommendations are grounded in project knowledge rather than relying only on the model’s general knowledge.”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5760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survey evidence is clearly labelled within the system.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75120" y="1508760"/>
            <a:ext cx="4937760" cy="438912"/>
          </a:xfrm>
          <a:prstGeom prst="roundRect">
            <a:avLst>
              <a:gd name="adj" fmla="val 16667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50876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75120" y="19476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0" y="2240280"/>
            <a:ext cx="4937760" cy="438912"/>
          </a:xfrm>
          <a:prstGeom prst="roundRect">
            <a:avLst>
              <a:gd name="adj" fmla="val 16667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24028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75120" y="26791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75120" y="2971800"/>
            <a:ext cx="4937760" cy="438912"/>
          </a:xfrm>
          <a:prstGeom prst="roundRect">
            <a:avLst>
              <a:gd name="adj" fmla="val 16667"/>
            </a:avLst>
          </a:prstGeom>
          <a:solidFill>
            <a:srgbClr val="132B25"/>
          </a:solidFill>
          <a:ln w="15875">
            <a:solidFill>
              <a:srgbClr val="1FD8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297180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Similarity Search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75120" y="34107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675120" y="3703320"/>
            <a:ext cx="4937760" cy="438912"/>
          </a:xfrm>
          <a:prstGeom prst="roundRect">
            <a:avLst>
              <a:gd name="adj" fmla="val 16667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370332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Relevant Knowledge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675120" y="41422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75120" y="4434840"/>
            <a:ext cx="4937760" cy="438912"/>
          </a:xfrm>
          <a:prstGeom prst="roundRect">
            <a:avLst>
              <a:gd name="adj" fmla="val 16667"/>
            </a:avLst>
          </a:prstGeom>
          <a:solidFill>
            <a:srgbClr val="132B25"/>
          </a:solidFill>
          <a:ln w="15875">
            <a:solidFill>
              <a:srgbClr val="1FD8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443484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Gemini Prompt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675120" y="487375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675120" y="5166360"/>
            <a:ext cx="4937760" cy="438912"/>
          </a:xfrm>
          <a:prstGeom prst="roundRect">
            <a:avLst>
              <a:gd name="adj" fmla="val 16667"/>
            </a:avLst>
          </a:prstGeom>
          <a:solidFill>
            <a:srgbClr val="132B25"/>
          </a:solidFill>
          <a:ln w="15875">
            <a:solidFill>
              <a:srgbClr val="1FD8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516636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Sustainability Discovery Platform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02975" y="6519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AUTONOMY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8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Agentic AI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includes a controlled AI agent that can use read-only tools to gather context.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371600" cy="1371600"/>
          </a:xfrm>
          <a:prstGeom prst="ellipse">
            <a:avLst/>
          </a:prstGeom>
          <a:solidFill>
            <a:srgbClr val="132B25"/>
          </a:solidFill>
          <a:ln w="19050">
            <a:solidFill>
              <a:srgbClr val="1FD8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D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94560" y="2834640"/>
            <a:ext cx="640080" cy="-662940"/>
          </a:xfrm>
          <a:prstGeom prst="line">
            <a:avLst/>
          </a:prstGeom>
          <a:noFill/>
          <a:ln w="12700">
            <a:solidFill>
              <a:srgbClr val="1E3B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1920240"/>
            <a:ext cx="2743200" cy="502920"/>
          </a:xfrm>
          <a:prstGeom prst="roundRect">
            <a:avLst>
              <a:gd name="adj" fmla="val 12727"/>
            </a:avLst>
          </a:prstGeom>
          <a:solidFill>
            <a:srgbClr val="10241F"/>
          </a:solidFill>
          <a:ln w="12700">
            <a:solidFill>
              <a:srgbClr val="3FD1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Report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94560" y="2834640"/>
            <a:ext cx="640080" cy="41148"/>
          </a:xfrm>
          <a:prstGeom prst="line">
            <a:avLst/>
          </a:prstGeom>
          <a:noFill/>
          <a:ln w="12700">
            <a:solidFill>
              <a:srgbClr val="1E3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2624328"/>
            <a:ext cx="2743200" cy="502920"/>
          </a:xfrm>
          <a:prstGeom prst="roundRect">
            <a:avLst>
              <a:gd name="adj" fmla="val 12727"/>
            </a:avLst>
          </a:prstGeom>
          <a:solidFill>
            <a:srgbClr val="10241F"/>
          </a:solidFill>
          <a:ln w="12700">
            <a:solidFill>
              <a:srgbClr val="3FD1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26243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Knowledge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94560" y="2834640"/>
            <a:ext cx="640080" cy="745236"/>
          </a:xfrm>
          <a:prstGeom prst="line">
            <a:avLst/>
          </a:prstGeom>
          <a:noFill/>
          <a:ln w="12700">
            <a:solidFill>
              <a:srgbClr val="1E3B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3328416"/>
            <a:ext cx="2743200" cy="502920"/>
          </a:xfrm>
          <a:prstGeom prst="roundRect">
            <a:avLst>
              <a:gd name="adj" fmla="val 12727"/>
            </a:avLst>
          </a:prstGeom>
          <a:solidFill>
            <a:srgbClr val="10241F"/>
          </a:solidFill>
          <a:ln w="12700">
            <a:solidFill>
              <a:srgbClr val="3FD1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332841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Report History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194560" y="2834640"/>
            <a:ext cx="640080" cy="1449324"/>
          </a:xfrm>
          <a:prstGeom prst="line">
            <a:avLst/>
          </a:prstGeom>
          <a:noFill/>
          <a:ln w="12700">
            <a:solidFill>
              <a:srgbClr val="1E3B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4032504"/>
            <a:ext cx="2743200" cy="502920"/>
          </a:xfrm>
          <a:prstGeom prst="roundRect">
            <a:avLst>
              <a:gd name="adj" fmla="val 12727"/>
            </a:avLst>
          </a:prstGeom>
          <a:solidFill>
            <a:srgbClr val="10241F"/>
          </a:solidFill>
          <a:ln w="12700">
            <a:solidFill>
              <a:srgbClr val="3FD1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403250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Dashboard Statistics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03920" y="214884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41080" y="2148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03920" y="26060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03920" y="2898648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41080" y="289864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Analysis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03920" y="335584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03920" y="3648456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132B25"/>
          </a:solidFill>
          <a:ln w="15875">
            <a:solidFill>
              <a:srgbClr val="1FD8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41080" y="364845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03920" y="410565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03920" y="4398264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132B25"/>
          </a:solidFill>
          <a:ln w="15875">
            <a:solidFill>
              <a:srgbClr val="1FD8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41080" y="439826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25780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132B25"/>
          </a:solidFill>
          <a:ln w="15875">
            <a:solidFill>
              <a:srgbClr val="1FD8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2578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agent is read-only and cannot independently change report status, resolve reports, or verify reports.”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943600"/>
            <a:ext cx="3840480" cy="310896"/>
          </a:xfrm>
          <a:prstGeom prst="roundRect">
            <a:avLst>
              <a:gd name="adj" fmla="val 50000"/>
            </a:avLst>
          </a:prstGeom>
          <a:solidFill>
            <a:srgbClr val="3FD1E0">
              <a:alpha val="15000"/>
            </a:srgbClr>
          </a:solidFill>
          <a:ln w="12700">
            <a:solidFill>
              <a:srgbClr val="3FD1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94360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AI-assisted agent workflow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Sustainability Discovery Platform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02975" y="6519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8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Issue Report to Verified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584960" cy="914400"/>
          </a:xfrm>
          <a:prstGeom prst="roundRect">
            <a:avLst>
              <a:gd name="adj" fmla="val 9000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56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2075688"/>
            <a:ext cx="136550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133600" y="1783080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44496" y="1783080"/>
            <a:ext cx="1584960" cy="914400"/>
          </a:xfrm>
          <a:prstGeom prst="roundRect">
            <a:avLst>
              <a:gd name="adj" fmla="val 9000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35936" y="1856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54224" y="2075688"/>
            <a:ext cx="136550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29456" y="1783080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40352" y="1783080"/>
            <a:ext cx="1584960" cy="914400"/>
          </a:xfrm>
          <a:prstGeom prst="roundRect">
            <a:avLst>
              <a:gd name="adj" fmla="val 9000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1792" y="1856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50080" y="2075688"/>
            <a:ext cx="136550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Planned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25312" y="1783080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6208" y="1783080"/>
            <a:ext cx="1584960" cy="914400"/>
          </a:xfrm>
          <a:prstGeom prst="roundRect">
            <a:avLst>
              <a:gd name="adj" fmla="val 9000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856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45936" y="2075688"/>
            <a:ext cx="136550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821168" y="1783080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132064" y="1783080"/>
            <a:ext cx="1584960" cy="914400"/>
          </a:xfrm>
          <a:prstGeom prst="roundRect">
            <a:avLst>
              <a:gd name="adj" fmla="val 9000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3504" y="1856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41792" y="2075688"/>
            <a:ext cx="136550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717024" y="1783080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027920" y="1783080"/>
            <a:ext cx="1584960" cy="914400"/>
          </a:xfrm>
          <a:prstGeom prst="roundRect">
            <a:avLst>
              <a:gd name="adj" fmla="val 9000"/>
            </a:avLst>
          </a:prstGeom>
          <a:solidFill>
            <a:srgbClr val="132B25"/>
          </a:solidFill>
          <a:ln w="15875">
            <a:solidFill>
              <a:srgbClr val="1FD8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19360" y="1856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137648" y="2075688"/>
            <a:ext cx="136550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3246120"/>
            <a:ext cx="6400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submit problems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and provides recommendations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reviewers make operational decisions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are tracked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requires human verification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315200" y="3246120"/>
            <a:ext cx="4297680" cy="1920240"/>
          </a:xfrm>
          <a:prstGeom prst="roundRect">
            <a:avLst>
              <a:gd name="adj" fmla="val 4286"/>
            </a:avLst>
          </a:prstGeom>
          <a:solidFill>
            <a:srgbClr val="132B25"/>
          </a:solidFill>
          <a:ln w="13970">
            <a:solidFill>
              <a:srgbClr val="3FD1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43800" y="3456432"/>
            <a:ext cx="502920" cy="502920"/>
          </a:xfrm>
          <a:prstGeom prst="ellipse">
            <a:avLst/>
          </a:prstGeom>
          <a:solidFill>
            <a:srgbClr val="132B25"/>
          </a:solidFill>
          <a:ln w="19050">
            <a:solidFill>
              <a:srgbClr val="3FD1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3456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3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60" dirty="0"/>
          </a:p>
        </p:txBody>
      </p:sp>
      <p:sp>
        <p:nvSpPr>
          <p:cNvPr id="31" name="Text 29"/>
          <p:cNvSpPr/>
          <p:nvPr/>
        </p:nvSpPr>
        <p:spPr>
          <a:xfrm>
            <a:off x="8229600" y="3474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543800" y="39776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history provides full traceability of every reported issue, from submission through human verification.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Sustainability Discovery Platform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02975" y="6519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TRANSPARENCY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8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by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64792"/>
            <a:ext cx="384048" cy="384048"/>
          </a:xfrm>
          <a:prstGeom prst="ellipse">
            <a:avLst/>
          </a:prstGeom>
          <a:solidFill>
            <a:srgbClr val="132B25"/>
          </a:solidFill>
          <a:ln w="19050">
            <a:solidFill>
              <a:srgbClr val="1FD8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7" name="Text 5"/>
          <p:cNvSpPr/>
          <p:nvPr/>
        </p:nvSpPr>
        <p:spPr>
          <a:xfrm>
            <a:off x="685800" y="220370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9272" y="160020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3864" y="1764792"/>
            <a:ext cx="384048" cy="384048"/>
          </a:xfrm>
          <a:prstGeom prst="ellipse">
            <a:avLst/>
          </a:prstGeom>
          <a:solidFill>
            <a:srgbClr val="132B25"/>
          </a:solidFill>
          <a:ln w="19050">
            <a:solidFill>
              <a:srgbClr val="1FD8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83864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3456432" y="220370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Transparency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9904" y="160020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4496" y="1764792"/>
            <a:ext cx="384048" cy="384048"/>
          </a:xfrm>
          <a:prstGeom prst="ellipse">
            <a:avLst/>
          </a:prstGeom>
          <a:solidFill>
            <a:srgbClr val="132B25"/>
          </a:solidFill>
          <a:ln w="19050">
            <a:solidFill>
              <a:srgbClr val="1FD8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6227064" y="220370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Analysis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60536" y="160020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25128" y="1764792"/>
            <a:ext cx="384048" cy="384048"/>
          </a:xfrm>
          <a:prstGeom prst="ellipse">
            <a:avLst/>
          </a:prstGeom>
          <a:solidFill>
            <a:srgbClr val="132B25"/>
          </a:solidFill>
          <a:ln w="19050">
            <a:solidFill>
              <a:srgbClr val="1FD8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25128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44" dirty="0"/>
          </a:p>
        </p:txBody>
      </p:sp>
      <p:sp>
        <p:nvSpPr>
          <p:cNvPr id="19" name="Text 17"/>
          <p:cNvSpPr/>
          <p:nvPr/>
        </p:nvSpPr>
        <p:spPr>
          <a:xfrm>
            <a:off x="8997696" y="220370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Protection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2816352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2980944"/>
            <a:ext cx="384048" cy="384048"/>
          </a:xfrm>
          <a:prstGeom prst="ellipse">
            <a:avLst/>
          </a:prstGeom>
          <a:solidFill>
            <a:srgbClr val="132B25"/>
          </a:solidFill>
          <a:ln w="19050">
            <a:solidFill>
              <a:srgbClr val="1FD8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2980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44" dirty="0"/>
          </a:p>
        </p:txBody>
      </p:sp>
      <p:sp>
        <p:nvSpPr>
          <p:cNvPr id="23" name="Text 21"/>
          <p:cNvSpPr/>
          <p:nvPr/>
        </p:nvSpPr>
        <p:spPr>
          <a:xfrm>
            <a:off x="685800" y="341985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Awareness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19272" y="2816352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3864" y="2980944"/>
            <a:ext cx="384048" cy="384048"/>
          </a:xfrm>
          <a:prstGeom prst="ellipse">
            <a:avLst/>
          </a:prstGeom>
          <a:solidFill>
            <a:srgbClr val="132B25"/>
          </a:solidFill>
          <a:ln w="19050">
            <a:solidFill>
              <a:srgbClr val="1FD8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83864" y="2980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44" dirty="0"/>
          </a:p>
        </p:txBody>
      </p:sp>
      <p:sp>
        <p:nvSpPr>
          <p:cNvPr id="27" name="Text 25"/>
          <p:cNvSpPr/>
          <p:nvPr/>
        </p:nvSpPr>
        <p:spPr>
          <a:xfrm>
            <a:off x="3456432" y="341985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AI Labelling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89904" y="2816352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54496" y="2980944"/>
            <a:ext cx="384048" cy="384048"/>
          </a:xfrm>
          <a:prstGeom prst="ellipse">
            <a:avLst/>
          </a:prstGeom>
          <a:solidFill>
            <a:srgbClr val="132B25"/>
          </a:solidFill>
          <a:ln w="19050">
            <a:solidFill>
              <a:srgbClr val="1FD8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4496" y="2980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44" dirty="0"/>
          </a:p>
        </p:txBody>
      </p:sp>
      <p:sp>
        <p:nvSpPr>
          <p:cNvPr id="31" name="Text 29"/>
          <p:cNvSpPr/>
          <p:nvPr/>
        </p:nvSpPr>
        <p:spPr>
          <a:xfrm>
            <a:off x="6227064" y="341985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Impact Estimates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860536" y="2816352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25128" y="2980944"/>
            <a:ext cx="384048" cy="384048"/>
          </a:xfrm>
          <a:prstGeom prst="ellipse">
            <a:avLst/>
          </a:prstGeom>
          <a:solidFill>
            <a:srgbClr val="132B25"/>
          </a:solidFill>
          <a:ln w="19050">
            <a:solidFill>
              <a:srgbClr val="1FD8A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25128" y="2980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44" dirty="0"/>
          </a:p>
        </p:txBody>
      </p:sp>
      <p:sp>
        <p:nvSpPr>
          <p:cNvPr id="35" name="Text 33"/>
          <p:cNvSpPr/>
          <p:nvPr/>
        </p:nvSpPr>
        <p:spPr>
          <a:xfrm>
            <a:off x="8997696" y="341985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Verification Required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4187952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outputs are recommendations, not confirmed diagnoses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root causes are labelled “Probable Root Cause”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estimates remain qualitative when measured data is unavailable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evidence remains separate from AI interpretation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Sustainability Discovery Platform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02975" y="6519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8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Capabilities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746504"/>
            <a:ext cx="2313432" cy="914400"/>
          </a:xfrm>
          <a:prstGeom prst="roundRect">
            <a:avLst>
              <a:gd name="adj" fmla="val 6000"/>
            </a:avLst>
          </a:prstGeom>
          <a:solidFill>
            <a:srgbClr val="0D1E1A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74520"/>
            <a:ext cx="64008" cy="64008"/>
          </a:xfrm>
          <a:prstGeom prst="ellipse">
            <a:avLst/>
          </a:prstGeom>
          <a:solidFill>
            <a:srgbClr val="1FD8A4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874520"/>
            <a:ext cx="64008" cy="64008"/>
          </a:xfrm>
          <a:prstGeom prst="ellipse">
            <a:avLst/>
          </a:prstGeom>
          <a:solidFill>
            <a:srgbClr val="3FD1E0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874520"/>
            <a:ext cx="64008" cy="64008"/>
          </a:xfrm>
          <a:prstGeom prst="ellipse">
            <a:avLst/>
          </a:prstGeom>
          <a:solidFill>
            <a:srgbClr val="4C8DFF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057400"/>
            <a:ext cx="2020824" cy="54864"/>
          </a:xfrm>
          <a:prstGeom prst="rect">
            <a:avLst/>
          </a:prstGeom>
          <a:solidFill>
            <a:srgbClr val="1E3B33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194560"/>
            <a:ext cx="1313536" cy="54864"/>
          </a:xfrm>
          <a:prstGeom prst="rect">
            <a:avLst/>
          </a:prstGeom>
          <a:solidFill>
            <a:srgbClr val="1E3B33"/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" y="2331720"/>
            <a:ext cx="808330" cy="54864"/>
          </a:xfrm>
          <a:prstGeom prst="rect">
            <a:avLst/>
          </a:prstGeom>
          <a:solidFill>
            <a:srgbClr val="1E3B33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2752344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Submission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4944" y="3044952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sustainability issue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19272" y="16002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65576" y="1746504"/>
            <a:ext cx="2313432" cy="914400"/>
          </a:xfrm>
          <a:prstGeom prst="roundRect">
            <a:avLst>
              <a:gd name="adj" fmla="val 6000"/>
            </a:avLst>
          </a:prstGeom>
          <a:solidFill>
            <a:srgbClr val="0D1E1A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93592" y="1874520"/>
            <a:ext cx="64008" cy="64008"/>
          </a:xfrm>
          <a:prstGeom prst="ellipse">
            <a:avLst/>
          </a:prstGeom>
          <a:solidFill>
            <a:srgbClr val="1FD8A4"/>
          </a:solidFill>
          <a:ln/>
        </p:spPr>
      </p:sp>
      <p:sp>
        <p:nvSpPr>
          <p:cNvPr id="17" name="Shape 15"/>
          <p:cNvSpPr/>
          <p:nvPr/>
        </p:nvSpPr>
        <p:spPr>
          <a:xfrm>
            <a:off x="3739896" y="1874520"/>
            <a:ext cx="64008" cy="64008"/>
          </a:xfrm>
          <a:prstGeom prst="ellipse">
            <a:avLst/>
          </a:prstGeom>
          <a:solidFill>
            <a:srgbClr val="3FD1E0"/>
          </a:solidFill>
          <a:ln/>
        </p:spPr>
      </p:sp>
      <p:sp>
        <p:nvSpPr>
          <p:cNvPr id="18" name="Shape 16"/>
          <p:cNvSpPr/>
          <p:nvPr/>
        </p:nvSpPr>
        <p:spPr>
          <a:xfrm>
            <a:off x="3886200" y="1874520"/>
            <a:ext cx="64008" cy="64008"/>
          </a:xfrm>
          <a:prstGeom prst="ellipse">
            <a:avLst/>
          </a:prstGeom>
          <a:solidFill>
            <a:srgbClr val="4C8D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575304" y="2057400"/>
            <a:ext cx="2020824" cy="54864"/>
          </a:xfrm>
          <a:prstGeom prst="rect">
            <a:avLst/>
          </a:prstGeom>
          <a:solidFill>
            <a:srgbClr val="1E3B33"/>
          </a:solidFill>
          <a:ln/>
        </p:spPr>
      </p:sp>
      <p:sp>
        <p:nvSpPr>
          <p:cNvPr id="20" name="Shape 18"/>
          <p:cNvSpPr/>
          <p:nvPr/>
        </p:nvSpPr>
        <p:spPr>
          <a:xfrm>
            <a:off x="3575304" y="2194560"/>
            <a:ext cx="1313536" cy="54864"/>
          </a:xfrm>
          <a:prstGeom prst="rect">
            <a:avLst/>
          </a:prstGeom>
          <a:solidFill>
            <a:srgbClr val="1E3B33"/>
          </a:solidFill>
          <a:ln/>
        </p:spPr>
      </p:sp>
      <p:sp>
        <p:nvSpPr>
          <p:cNvPr id="21" name="Shape 19"/>
          <p:cNvSpPr/>
          <p:nvPr/>
        </p:nvSpPr>
        <p:spPr>
          <a:xfrm>
            <a:off x="3575304" y="2331720"/>
            <a:ext cx="808330" cy="54864"/>
          </a:xfrm>
          <a:prstGeom prst="rect">
            <a:avLst/>
          </a:prstGeom>
          <a:solidFill>
            <a:srgbClr val="1E3B33"/>
          </a:solidFill>
          <a:ln/>
        </p:spPr>
      </p:sp>
      <p:sp>
        <p:nvSpPr>
          <p:cNvPr id="22" name="Text 20"/>
          <p:cNvSpPr/>
          <p:nvPr/>
        </p:nvSpPr>
        <p:spPr>
          <a:xfrm>
            <a:off x="3465576" y="2752344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Evidence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65576" y="3044952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supporting photo evidence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9904" y="16002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36208" y="1746504"/>
            <a:ext cx="2313432" cy="914400"/>
          </a:xfrm>
          <a:prstGeom prst="roundRect">
            <a:avLst>
              <a:gd name="adj" fmla="val 6000"/>
            </a:avLst>
          </a:prstGeom>
          <a:solidFill>
            <a:srgbClr val="0D1E1A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64224" y="1874520"/>
            <a:ext cx="64008" cy="64008"/>
          </a:xfrm>
          <a:prstGeom prst="ellipse">
            <a:avLst/>
          </a:prstGeom>
          <a:solidFill>
            <a:srgbClr val="1FD8A4"/>
          </a:solidFill>
          <a:ln/>
        </p:spPr>
      </p:sp>
      <p:sp>
        <p:nvSpPr>
          <p:cNvPr id="27" name="Shape 25"/>
          <p:cNvSpPr/>
          <p:nvPr/>
        </p:nvSpPr>
        <p:spPr>
          <a:xfrm>
            <a:off x="6510528" y="1874520"/>
            <a:ext cx="64008" cy="64008"/>
          </a:xfrm>
          <a:prstGeom prst="ellipse">
            <a:avLst/>
          </a:prstGeom>
          <a:solidFill>
            <a:srgbClr val="3FD1E0"/>
          </a:solidFill>
          <a:ln/>
        </p:spPr>
      </p:sp>
      <p:sp>
        <p:nvSpPr>
          <p:cNvPr id="28" name="Shape 26"/>
          <p:cNvSpPr/>
          <p:nvPr/>
        </p:nvSpPr>
        <p:spPr>
          <a:xfrm>
            <a:off x="6656832" y="1874520"/>
            <a:ext cx="64008" cy="64008"/>
          </a:xfrm>
          <a:prstGeom prst="ellipse">
            <a:avLst/>
          </a:prstGeom>
          <a:solidFill>
            <a:srgbClr val="4C8D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345936" y="2057400"/>
            <a:ext cx="2020824" cy="54864"/>
          </a:xfrm>
          <a:prstGeom prst="rect">
            <a:avLst/>
          </a:prstGeom>
          <a:solidFill>
            <a:srgbClr val="1E3B33"/>
          </a:solidFill>
          <a:ln/>
        </p:spPr>
      </p:sp>
      <p:sp>
        <p:nvSpPr>
          <p:cNvPr id="30" name="Shape 28"/>
          <p:cNvSpPr/>
          <p:nvPr/>
        </p:nvSpPr>
        <p:spPr>
          <a:xfrm>
            <a:off x="6345936" y="2194560"/>
            <a:ext cx="1313536" cy="54864"/>
          </a:xfrm>
          <a:prstGeom prst="rect">
            <a:avLst/>
          </a:prstGeom>
          <a:solidFill>
            <a:srgbClr val="1E3B33"/>
          </a:solidFill>
          <a:ln/>
        </p:spPr>
      </p:sp>
      <p:sp>
        <p:nvSpPr>
          <p:cNvPr id="31" name="Shape 29"/>
          <p:cNvSpPr/>
          <p:nvPr/>
        </p:nvSpPr>
        <p:spPr>
          <a:xfrm>
            <a:off x="6345936" y="2331720"/>
            <a:ext cx="808330" cy="54864"/>
          </a:xfrm>
          <a:prstGeom prst="rect">
            <a:avLst/>
          </a:prstGeom>
          <a:solidFill>
            <a:srgbClr val="1E3B33"/>
          </a:solidFill>
          <a:ln/>
        </p:spPr>
      </p:sp>
      <p:sp>
        <p:nvSpPr>
          <p:cNvPr id="32" name="Text 30"/>
          <p:cNvSpPr/>
          <p:nvPr/>
        </p:nvSpPr>
        <p:spPr>
          <a:xfrm>
            <a:off x="6236208" y="2752344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Live Analysis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36208" y="3044952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analyzes the report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860536" y="16002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06840" y="1746504"/>
            <a:ext cx="2313432" cy="914400"/>
          </a:xfrm>
          <a:prstGeom prst="roundRect">
            <a:avLst>
              <a:gd name="adj" fmla="val 6000"/>
            </a:avLst>
          </a:prstGeom>
          <a:solidFill>
            <a:srgbClr val="0D1E1A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34856" y="1874520"/>
            <a:ext cx="64008" cy="64008"/>
          </a:xfrm>
          <a:prstGeom prst="ellipse">
            <a:avLst/>
          </a:prstGeom>
          <a:solidFill>
            <a:srgbClr val="1FD8A4"/>
          </a:solidFill>
          <a:ln/>
        </p:spPr>
      </p:sp>
      <p:sp>
        <p:nvSpPr>
          <p:cNvPr id="37" name="Shape 35"/>
          <p:cNvSpPr/>
          <p:nvPr/>
        </p:nvSpPr>
        <p:spPr>
          <a:xfrm>
            <a:off x="9281160" y="1874520"/>
            <a:ext cx="64008" cy="64008"/>
          </a:xfrm>
          <a:prstGeom prst="ellipse">
            <a:avLst/>
          </a:prstGeom>
          <a:solidFill>
            <a:srgbClr val="3FD1E0"/>
          </a:solidFill>
          <a:ln/>
        </p:spPr>
      </p:sp>
      <p:sp>
        <p:nvSpPr>
          <p:cNvPr id="38" name="Shape 36"/>
          <p:cNvSpPr/>
          <p:nvPr/>
        </p:nvSpPr>
        <p:spPr>
          <a:xfrm>
            <a:off x="9427464" y="1874520"/>
            <a:ext cx="64008" cy="64008"/>
          </a:xfrm>
          <a:prstGeom prst="ellipse">
            <a:avLst/>
          </a:prstGeom>
          <a:solidFill>
            <a:srgbClr val="4C8DFF"/>
          </a:solidFill>
          <a:ln/>
        </p:spPr>
      </p:sp>
      <p:sp>
        <p:nvSpPr>
          <p:cNvPr id="39" name="Shape 37"/>
          <p:cNvSpPr/>
          <p:nvPr/>
        </p:nvSpPr>
        <p:spPr>
          <a:xfrm>
            <a:off x="9116568" y="2057400"/>
            <a:ext cx="2020824" cy="54864"/>
          </a:xfrm>
          <a:prstGeom prst="rect">
            <a:avLst/>
          </a:prstGeom>
          <a:solidFill>
            <a:srgbClr val="1E3B33"/>
          </a:solidFill>
          <a:ln/>
        </p:spPr>
      </p:sp>
      <p:sp>
        <p:nvSpPr>
          <p:cNvPr id="40" name="Shape 38"/>
          <p:cNvSpPr/>
          <p:nvPr/>
        </p:nvSpPr>
        <p:spPr>
          <a:xfrm>
            <a:off x="9116568" y="2194560"/>
            <a:ext cx="1313536" cy="54864"/>
          </a:xfrm>
          <a:prstGeom prst="rect">
            <a:avLst/>
          </a:prstGeom>
          <a:solidFill>
            <a:srgbClr val="1E3B33"/>
          </a:solidFill>
          <a:ln/>
        </p:spPr>
      </p:sp>
      <p:sp>
        <p:nvSpPr>
          <p:cNvPr id="41" name="Shape 39"/>
          <p:cNvSpPr/>
          <p:nvPr/>
        </p:nvSpPr>
        <p:spPr>
          <a:xfrm>
            <a:off x="9116568" y="2331720"/>
            <a:ext cx="808330" cy="54864"/>
          </a:xfrm>
          <a:prstGeom prst="rect">
            <a:avLst/>
          </a:prstGeom>
          <a:solidFill>
            <a:srgbClr val="1E3B33"/>
          </a:solidFill>
          <a:ln/>
        </p:spPr>
      </p:sp>
      <p:sp>
        <p:nvSpPr>
          <p:cNvPr id="42" name="Text 40"/>
          <p:cNvSpPr/>
          <p:nvPr/>
        </p:nvSpPr>
        <p:spPr>
          <a:xfrm>
            <a:off x="9006840" y="2752344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Sources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006840" y="3044952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retrieves supporting evidence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8640" y="3730752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4944" y="3877056"/>
            <a:ext cx="2313432" cy="914400"/>
          </a:xfrm>
          <a:prstGeom prst="roundRect">
            <a:avLst>
              <a:gd name="adj" fmla="val 6000"/>
            </a:avLst>
          </a:prstGeom>
          <a:solidFill>
            <a:srgbClr val="0D1E1A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960" y="4005072"/>
            <a:ext cx="64008" cy="64008"/>
          </a:xfrm>
          <a:prstGeom prst="ellipse">
            <a:avLst/>
          </a:prstGeom>
          <a:solidFill>
            <a:srgbClr val="1FD8A4"/>
          </a:solidFill>
          <a:ln/>
        </p:spPr>
      </p:sp>
      <p:sp>
        <p:nvSpPr>
          <p:cNvPr id="47" name="Shape 45"/>
          <p:cNvSpPr/>
          <p:nvPr/>
        </p:nvSpPr>
        <p:spPr>
          <a:xfrm>
            <a:off x="969264" y="4005072"/>
            <a:ext cx="64008" cy="64008"/>
          </a:xfrm>
          <a:prstGeom prst="ellipse">
            <a:avLst/>
          </a:prstGeom>
          <a:solidFill>
            <a:srgbClr val="3FD1E0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5568" y="4005072"/>
            <a:ext cx="64008" cy="64008"/>
          </a:xfrm>
          <a:prstGeom prst="ellipse">
            <a:avLst/>
          </a:prstGeom>
          <a:solidFill>
            <a:srgbClr val="4C8DFF"/>
          </a:solidFill>
          <a:ln/>
        </p:spPr>
      </p:sp>
      <p:sp>
        <p:nvSpPr>
          <p:cNvPr id="49" name="Shape 47"/>
          <p:cNvSpPr/>
          <p:nvPr/>
        </p:nvSpPr>
        <p:spPr>
          <a:xfrm>
            <a:off x="804672" y="4187952"/>
            <a:ext cx="2020824" cy="54864"/>
          </a:xfrm>
          <a:prstGeom prst="rect">
            <a:avLst/>
          </a:prstGeom>
          <a:solidFill>
            <a:srgbClr val="1E3B33"/>
          </a:solidFill>
          <a:ln/>
        </p:spPr>
      </p:sp>
      <p:sp>
        <p:nvSpPr>
          <p:cNvPr id="50" name="Shape 48"/>
          <p:cNvSpPr/>
          <p:nvPr/>
        </p:nvSpPr>
        <p:spPr>
          <a:xfrm>
            <a:off x="804672" y="4325112"/>
            <a:ext cx="1313536" cy="54864"/>
          </a:xfrm>
          <a:prstGeom prst="rect">
            <a:avLst/>
          </a:prstGeom>
          <a:solidFill>
            <a:srgbClr val="1E3B33"/>
          </a:solidFill>
          <a:ln/>
        </p:spPr>
      </p:sp>
      <p:sp>
        <p:nvSpPr>
          <p:cNvPr id="51" name="Shape 49"/>
          <p:cNvSpPr/>
          <p:nvPr/>
        </p:nvSpPr>
        <p:spPr>
          <a:xfrm>
            <a:off x="804672" y="4462272"/>
            <a:ext cx="808330" cy="54864"/>
          </a:xfrm>
          <a:prstGeom prst="rect">
            <a:avLst/>
          </a:prstGeom>
          <a:solidFill>
            <a:srgbClr val="1E3B33"/>
          </a:solidFill>
          <a:ln/>
        </p:spPr>
      </p:sp>
      <p:sp>
        <p:nvSpPr>
          <p:cNvPr id="52" name="Text 50"/>
          <p:cNvSpPr/>
          <p:nvPr/>
        </p:nvSpPr>
        <p:spPr>
          <a:xfrm>
            <a:off x="694944" y="4882896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Execution Steps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94944" y="5175504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gathers contextual information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319272" y="3730752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465576" y="3877056"/>
            <a:ext cx="2313432" cy="914400"/>
          </a:xfrm>
          <a:prstGeom prst="roundRect">
            <a:avLst>
              <a:gd name="adj" fmla="val 6000"/>
            </a:avLst>
          </a:prstGeom>
          <a:solidFill>
            <a:srgbClr val="0D1E1A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93592" y="4005072"/>
            <a:ext cx="64008" cy="64008"/>
          </a:xfrm>
          <a:prstGeom prst="ellipse">
            <a:avLst/>
          </a:prstGeom>
          <a:solidFill>
            <a:srgbClr val="1FD8A4"/>
          </a:solidFill>
          <a:ln/>
        </p:spPr>
      </p:sp>
      <p:sp>
        <p:nvSpPr>
          <p:cNvPr id="57" name="Shape 55"/>
          <p:cNvSpPr/>
          <p:nvPr/>
        </p:nvSpPr>
        <p:spPr>
          <a:xfrm>
            <a:off x="3739896" y="4005072"/>
            <a:ext cx="64008" cy="64008"/>
          </a:xfrm>
          <a:prstGeom prst="ellipse">
            <a:avLst/>
          </a:prstGeom>
          <a:solidFill>
            <a:srgbClr val="3FD1E0"/>
          </a:solidFill>
          <a:ln/>
        </p:spPr>
      </p:sp>
      <p:sp>
        <p:nvSpPr>
          <p:cNvPr id="58" name="Shape 56"/>
          <p:cNvSpPr/>
          <p:nvPr/>
        </p:nvSpPr>
        <p:spPr>
          <a:xfrm>
            <a:off x="3886200" y="4005072"/>
            <a:ext cx="64008" cy="64008"/>
          </a:xfrm>
          <a:prstGeom prst="ellipse">
            <a:avLst/>
          </a:prstGeom>
          <a:solidFill>
            <a:srgbClr val="4C8DFF"/>
          </a:solidFill>
          <a:ln/>
        </p:spPr>
      </p:sp>
      <p:sp>
        <p:nvSpPr>
          <p:cNvPr id="59" name="Shape 57"/>
          <p:cNvSpPr/>
          <p:nvPr/>
        </p:nvSpPr>
        <p:spPr>
          <a:xfrm>
            <a:off x="3575304" y="4187952"/>
            <a:ext cx="2020824" cy="54864"/>
          </a:xfrm>
          <a:prstGeom prst="rect">
            <a:avLst/>
          </a:prstGeom>
          <a:solidFill>
            <a:srgbClr val="1E3B33"/>
          </a:solidFill>
          <a:ln/>
        </p:spPr>
      </p:sp>
      <p:sp>
        <p:nvSpPr>
          <p:cNvPr id="60" name="Shape 58"/>
          <p:cNvSpPr/>
          <p:nvPr/>
        </p:nvSpPr>
        <p:spPr>
          <a:xfrm>
            <a:off x="3575304" y="4325112"/>
            <a:ext cx="1313536" cy="54864"/>
          </a:xfrm>
          <a:prstGeom prst="rect">
            <a:avLst/>
          </a:prstGeom>
          <a:solidFill>
            <a:srgbClr val="1E3B33"/>
          </a:solidFill>
          <a:ln/>
        </p:spPr>
      </p:sp>
      <p:sp>
        <p:nvSpPr>
          <p:cNvPr id="61" name="Shape 59"/>
          <p:cNvSpPr/>
          <p:nvPr/>
        </p:nvSpPr>
        <p:spPr>
          <a:xfrm>
            <a:off x="3575304" y="4462272"/>
            <a:ext cx="808330" cy="54864"/>
          </a:xfrm>
          <a:prstGeom prst="rect">
            <a:avLst/>
          </a:prstGeom>
          <a:solidFill>
            <a:srgbClr val="1E3B33"/>
          </a:solidFill>
          <a:ln/>
        </p:spPr>
      </p:sp>
      <p:sp>
        <p:nvSpPr>
          <p:cNvPr id="62" name="Text 60"/>
          <p:cNvSpPr/>
          <p:nvPr/>
        </p:nvSpPr>
        <p:spPr>
          <a:xfrm>
            <a:off x="3465576" y="4882896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3465576" y="5175504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reviewer manages status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089904" y="3730752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36208" y="3877056"/>
            <a:ext cx="2313432" cy="914400"/>
          </a:xfrm>
          <a:prstGeom prst="roundRect">
            <a:avLst>
              <a:gd name="adj" fmla="val 6000"/>
            </a:avLst>
          </a:prstGeom>
          <a:solidFill>
            <a:srgbClr val="0D1E1A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64224" y="4005072"/>
            <a:ext cx="64008" cy="64008"/>
          </a:xfrm>
          <a:prstGeom prst="ellipse">
            <a:avLst/>
          </a:prstGeom>
          <a:solidFill>
            <a:srgbClr val="1FD8A4"/>
          </a:solidFill>
          <a:ln/>
        </p:spPr>
      </p:sp>
      <p:sp>
        <p:nvSpPr>
          <p:cNvPr id="67" name="Shape 65"/>
          <p:cNvSpPr/>
          <p:nvPr/>
        </p:nvSpPr>
        <p:spPr>
          <a:xfrm>
            <a:off x="6510528" y="4005072"/>
            <a:ext cx="64008" cy="64008"/>
          </a:xfrm>
          <a:prstGeom prst="ellipse">
            <a:avLst/>
          </a:prstGeom>
          <a:solidFill>
            <a:srgbClr val="3FD1E0"/>
          </a:solidFill>
          <a:ln/>
        </p:spPr>
      </p:sp>
      <p:sp>
        <p:nvSpPr>
          <p:cNvPr id="68" name="Shape 66"/>
          <p:cNvSpPr/>
          <p:nvPr/>
        </p:nvSpPr>
        <p:spPr>
          <a:xfrm>
            <a:off x="6656832" y="4005072"/>
            <a:ext cx="64008" cy="64008"/>
          </a:xfrm>
          <a:prstGeom prst="ellipse">
            <a:avLst/>
          </a:prstGeom>
          <a:solidFill>
            <a:srgbClr val="4C8DFF"/>
          </a:solidFill>
          <a:ln/>
        </p:spPr>
      </p:sp>
      <p:sp>
        <p:nvSpPr>
          <p:cNvPr id="69" name="Shape 67"/>
          <p:cNvSpPr/>
          <p:nvPr/>
        </p:nvSpPr>
        <p:spPr>
          <a:xfrm>
            <a:off x="6345936" y="4187952"/>
            <a:ext cx="2020824" cy="54864"/>
          </a:xfrm>
          <a:prstGeom prst="rect">
            <a:avLst/>
          </a:prstGeom>
          <a:solidFill>
            <a:srgbClr val="1E3B33"/>
          </a:solidFill>
          <a:ln/>
        </p:spPr>
      </p:sp>
      <p:sp>
        <p:nvSpPr>
          <p:cNvPr id="70" name="Shape 68"/>
          <p:cNvSpPr/>
          <p:nvPr/>
        </p:nvSpPr>
        <p:spPr>
          <a:xfrm>
            <a:off x="6345936" y="4325112"/>
            <a:ext cx="1313536" cy="54864"/>
          </a:xfrm>
          <a:prstGeom prst="rect">
            <a:avLst/>
          </a:prstGeom>
          <a:solidFill>
            <a:srgbClr val="1E3B33"/>
          </a:solidFill>
          <a:ln/>
        </p:spPr>
      </p:sp>
      <p:sp>
        <p:nvSpPr>
          <p:cNvPr id="71" name="Shape 69"/>
          <p:cNvSpPr/>
          <p:nvPr/>
        </p:nvSpPr>
        <p:spPr>
          <a:xfrm>
            <a:off x="6345936" y="4462272"/>
            <a:ext cx="808330" cy="54864"/>
          </a:xfrm>
          <a:prstGeom prst="rect">
            <a:avLst/>
          </a:prstGeom>
          <a:solidFill>
            <a:srgbClr val="1E3B33"/>
          </a:solidFill>
          <a:ln/>
        </p:spPr>
      </p:sp>
      <p:sp>
        <p:nvSpPr>
          <p:cNvPr id="72" name="Text 70"/>
          <p:cNvSpPr/>
          <p:nvPr/>
        </p:nvSpPr>
        <p:spPr>
          <a:xfrm>
            <a:off x="6236208" y="4882896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History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6236208" y="5175504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 of report status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8860536" y="3730752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0241F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006840" y="3877056"/>
            <a:ext cx="2313432" cy="914400"/>
          </a:xfrm>
          <a:prstGeom prst="roundRect">
            <a:avLst>
              <a:gd name="adj" fmla="val 6000"/>
            </a:avLst>
          </a:prstGeom>
          <a:solidFill>
            <a:srgbClr val="0D1E1A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134856" y="4005072"/>
            <a:ext cx="64008" cy="64008"/>
          </a:xfrm>
          <a:prstGeom prst="ellipse">
            <a:avLst/>
          </a:prstGeom>
          <a:solidFill>
            <a:srgbClr val="1FD8A4"/>
          </a:solidFill>
          <a:ln/>
        </p:spPr>
      </p:sp>
      <p:sp>
        <p:nvSpPr>
          <p:cNvPr id="77" name="Shape 75"/>
          <p:cNvSpPr/>
          <p:nvPr/>
        </p:nvSpPr>
        <p:spPr>
          <a:xfrm>
            <a:off x="9281160" y="4005072"/>
            <a:ext cx="64008" cy="64008"/>
          </a:xfrm>
          <a:prstGeom prst="ellipse">
            <a:avLst/>
          </a:prstGeom>
          <a:solidFill>
            <a:srgbClr val="3FD1E0"/>
          </a:solidFill>
          <a:ln/>
        </p:spPr>
      </p:sp>
      <p:sp>
        <p:nvSpPr>
          <p:cNvPr id="78" name="Shape 76"/>
          <p:cNvSpPr/>
          <p:nvPr/>
        </p:nvSpPr>
        <p:spPr>
          <a:xfrm>
            <a:off x="9427464" y="4005072"/>
            <a:ext cx="64008" cy="64008"/>
          </a:xfrm>
          <a:prstGeom prst="ellipse">
            <a:avLst/>
          </a:prstGeom>
          <a:solidFill>
            <a:srgbClr val="4C8DFF"/>
          </a:solidFill>
          <a:ln/>
        </p:spPr>
      </p:sp>
      <p:sp>
        <p:nvSpPr>
          <p:cNvPr id="79" name="Shape 77"/>
          <p:cNvSpPr/>
          <p:nvPr/>
        </p:nvSpPr>
        <p:spPr>
          <a:xfrm>
            <a:off x="9116568" y="4187952"/>
            <a:ext cx="2020824" cy="54864"/>
          </a:xfrm>
          <a:prstGeom prst="rect">
            <a:avLst/>
          </a:prstGeom>
          <a:solidFill>
            <a:srgbClr val="1E3B33"/>
          </a:solidFill>
          <a:ln/>
        </p:spPr>
      </p:sp>
      <p:sp>
        <p:nvSpPr>
          <p:cNvPr id="80" name="Shape 78"/>
          <p:cNvSpPr/>
          <p:nvPr/>
        </p:nvSpPr>
        <p:spPr>
          <a:xfrm>
            <a:off x="9116568" y="4325112"/>
            <a:ext cx="1313536" cy="54864"/>
          </a:xfrm>
          <a:prstGeom prst="rect">
            <a:avLst/>
          </a:prstGeom>
          <a:solidFill>
            <a:srgbClr val="1E3B33"/>
          </a:solidFill>
          <a:ln/>
        </p:spPr>
      </p:sp>
      <p:sp>
        <p:nvSpPr>
          <p:cNvPr id="81" name="Shape 79"/>
          <p:cNvSpPr/>
          <p:nvPr/>
        </p:nvSpPr>
        <p:spPr>
          <a:xfrm>
            <a:off x="9116568" y="4462272"/>
            <a:ext cx="808330" cy="54864"/>
          </a:xfrm>
          <a:prstGeom prst="rect">
            <a:avLst/>
          </a:prstGeom>
          <a:solidFill>
            <a:srgbClr val="1E3B33"/>
          </a:solidFill>
          <a:ln/>
        </p:spPr>
      </p:sp>
      <p:sp>
        <p:nvSpPr>
          <p:cNvPr id="82" name="Text 80"/>
          <p:cNvSpPr/>
          <p:nvPr/>
        </p:nvSpPr>
        <p:spPr>
          <a:xfrm>
            <a:off x="9006840" y="4882896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Dashboard</a:t>
            </a:r>
            <a:endParaRPr lang="en-US" sz="1150" dirty="0"/>
          </a:p>
        </p:txBody>
      </p:sp>
      <p:sp>
        <p:nvSpPr>
          <p:cNvPr id="83" name="Text 81"/>
          <p:cNvSpPr/>
          <p:nvPr/>
        </p:nvSpPr>
        <p:spPr>
          <a:xfrm>
            <a:off x="9006840" y="5175504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tracks impact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548640" y="61722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layout shown — replace with actual application screenshots for final submission.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Sustainability Discovery Platform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11002975" y="6519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8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Future Potential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POTENTIAL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394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structured sustainability reporting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awareness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identification of recurring problems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recommendations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Trackable interventions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Human-accountable resolution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visibility into sustainability issues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0" y="15544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SCALE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92240" y="1920240"/>
            <a:ext cx="1046988" cy="685800"/>
          </a:xfrm>
          <a:prstGeom prst="roundRect">
            <a:avLst>
              <a:gd name="adj" fmla="val 12000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1968" y="2212848"/>
            <a:ext cx="8275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539228" y="1920240"/>
            <a:ext cx="3108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850124" y="1920240"/>
            <a:ext cx="1046988" cy="685800"/>
          </a:xfrm>
          <a:prstGeom prst="roundRect">
            <a:avLst>
              <a:gd name="adj" fmla="val 12000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9852" y="2212848"/>
            <a:ext cx="8275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97112" y="1920240"/>
            <a:ext cx="3108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08008" y="1920240"/>
            <a:ext cx="1046988" cy="685800"/>
          </a:xfrm>
          <a:prstGeom prst="roundRect">
            <a:avLst>
              <a:gd name="adj" fmla="val 12000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17736" y="2212848"/>
            <a:ext cx="8275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254996" y="1920240"/>
            <a:ext cx="3108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565892" y="1920240"/>
            <a:ext cx="1046988" cy="685800"/>
          </a:xfrm>
          <a:prstGeom prst="roundRect">
            <a:avLst>
              <a:gd name="adj" fmla="val 12000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75620" y="2212848"/>
            <a:ext cx="8275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31089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MEASUREMENT POSSIBILITIES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3497580"/>
            <a:ext cx="82296" cy="82296"/>
          </a:xfrm>
          <a:prstGeom prst="ellipse">
            <a:avLst/>
          </a:prstGeom>
          <a:solidFill>
            <a:srgbClr val="3FD1E0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34290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saved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37960" y="3863340"/>
            <a:ext cx="82296" cy="82296"/>
          </a:xfrm>
          <a:prstGeom prst="ellipse">
            <a:avLst/>
          </a:prstGeom>
          <a:solidFill>
            <a:srgbClr val="3FD1E0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37947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saved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37960" y="4229100"/>
            <a:ext cx="82296" cy="82296"/>
          </a:xfrm>
          <a:prstGeom prst="ellipse">
            <a:avLst/>
          </a:prstGeom>
          <a:solidFill>
            <a:srgbClr val="3FD1E0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41605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reduction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37960" y="4594860"/>
            <a:ext cx="82296" cy="82296"/>
          </a:xfrm>
          <a:prstGeom prst="ellipse">
            <a:avLst/>
          </a:prstGeom>
          <a:solidFill>
            <a:srgbClr val="3FD1E0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45262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reduction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37960" y="4960620"/>
            <a:ext cx="82296" cy="82296"/>
          </a:xfrm>
          <a:prstGeom prst="ellipse">
            <a:avLst/>
          </a:prstGeom>
          <a:solidFill>
            <a:srgbClr val="3FD1E0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48920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reduction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92240" y="539496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132B25"/>
          </a:solidFill>
          <a:ln w="13970">
            <a:solidFill>
              <a:srgbClr val="1FD8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53949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future measurement possibilities, not current achieved statistics.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Sustainability Discovery Platform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02975" y="6519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FD8A4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114800"/>
            <a:ext cx="5486400" cy="5486400"/>
          </a:xfrm>
          <a:prstGeom prst="ellipse">
            <a:avLst/>
          </a:prstGeom>
          <a:solidFill>
            <a:srgbClr val="3FD1E0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858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8755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8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Sustainability Problems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4F8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Sustainable Action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32B25"/>
          </a:solidFill>
          <a:ln w="15875">
            <a:solidFill>
              <a:srgbClr val="1FD8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1460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 should not replace people in sustainability decisions — it should help people understand problems, access relevant evidence, prioritize action, and measure progress.”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1927555" cy="777240"/>
          </a:xfrm>
          <a:prstGeom prst="roundRect">
            <a:avLst>
              <a:gd name="adj" fmla="val 10588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0050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4224528"/>
            <a:ext cx="1708099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567635" y="393192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878531" y="3931920"/>
            <a:ext cx="1927555" cy="777240"/>
          </a:xfrm>
          <a:prstGeom prst="roundRect">
            <a:avLst>
              <a:gd name="adj" fmla="val 10588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9971" y="40050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88259" y="4224528"/>
            <a:ext cx="1708099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06086" y="393192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116982" y="3931920"/>
            <a:ext cx="1927555" cy="777240"/>
          </a:xfrm>
          <a:prstGeom prst="roundRect">
            <a:avLst>
              <a:gd name="adj" fmla="val 10588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08422" y="40050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26710" y="4224528"/>
            <a:ext cx="1708099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44538" y="393192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55434" y="3931920"/>
            <a:ext cx="1927555" cy="777240"/>
          </a:xfrm>
          <a:prstGeom prst="roundRect">
            <a:avLst>
              <a:gd name="adj" fmla="val 10588"/>
            </a:avLst>
          </a:prstGeom>
          <a:solidFill>
            <a:srgbClr val="132B25"/>
          </a:solidFill>
          <a:ln w="12700">
            <a:solidFill>
              <a:srgbClr val="1E3B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46874" y="40050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65162" y="4224528"/>
            <a:ext cx="1708099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82989" y="393192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93885" y="3931920"/>
            <a:ext cx="1927555" cy="777240"/>
          </a:xfrm>
          <a:prstGeom prst="roundRect">
            <a:avLst>
              <a:gd name="adj" fmla="val 10588"/>
            </a:avLst>
          </a:prstGeom>
          <a:solidFill>
            <a:srgbClr val="132B25"/>
          </a:solidFill>
          <a:ln w="15875">
            <a:solidFill>
              <a:srgbClr val="1FD8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85325" y="40050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D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03613" y="4224528"/>
            <a:ext cx="1708099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Impact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50749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D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Sustainability Discovery Platform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“Turning everyday sustainability observations into actionable insights.”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97680" y="5989320"/>
            <a:ext cx="3657600" cy="0"/>
          </a:xfrm>
          <a:prstGeom prst="line">
            <a:avLst/>
          </a:prstGeom>
          <a:noFill/>
          <a:ln w="12700">
            <a:solidFill>
              <a:srgbClr val="1E3B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Kumar Behera  ·  1M1B AI for Sustainability Virtual Internship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2026-09-19T13:39:25Z</dcterms:created>
  <dcterms:modified xsi:type="dcterms:W3CDTF">2026-09-19T13:39:25Z</dcterms:modified>
</cp:coreProperties>
</file>